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8" r:id="rId4"/>
    <p:sldId id="259" r:id="rId5"/>
    <p:sldId id="260" r:id="rId6"/>
    <p:sldId id="266" r:id="rId7"/>
    <p:sldId id="265"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09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5D6F1-A987-7B02-1996-27AFCA0154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2679657-E224-3EA1-45C1-B7F62ECCA6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57CA680D-696A-2D67-CEF7-6D2E822021F7}"/>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5" name="Footer Placeholder 4">
            <a:extLst>
              <a:ext uri="{FF2B5EF4-FFF2-40B4-BE49-F238E27FC236}">
                <a16:creationId xmlns:a16="http://schemas.microsoft.com/office/drawing/2014/main" id="{5164EFE9-59E7-382B-9106-7798658589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CE98660-097B-3D6D-18B6-BF18E3EB40A8}"/>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1545691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1AD75-DD13-F9DD-CC53-E161D8F28AB9}"/>
              </a:ext>
            </a:extLst>
          </p:cNvPr>
          <p:cNvSpPr>
            <a:spLocks noGrp="1"/>
          </p:cNvSpPr>
          <p:nvPr>
            <p:ph type="title"/>
          </p:nvPr>
        </p:nvSpPr>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EB1D0028-2344-61AB-5A8B-572E3A1E03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7B614BA8-D897-BB0D-1B23-82CEB13DBD0A}"/>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5" name="Footer Placeholder 4">
            <a:extLst>
              <a:ext uri="{FF2B5EF4-FFF2-40B4-BE49-F238E27FC236}">
                <a16:creationId xmlns:a16="http://schemas.microsoft.com/office/drawing/2014/main" id="{00960A61-932B-4E9B-D140-036E7831A5D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41383D6-C10B-7B76-3A88-9E4EFDFF2FC5}"/>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2022920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2A79C-2B98-53B3-3DF9-D64FCCF52B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B8092DE-3370-E76B-ABC7-6D85599DD1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F2BD36-8FDE-95D2-2CC1-C6C8EF2E858B}"/>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5" name="Footer Placeholder 4">
            <a:extLst>
              <a:ext uri="{FF2B5EF4-FFF2-40B4-BE49-F238E27FC236}">
                <a16:creationId xmlns:a16="http://schemas.microsoft.com/office/drawing/2014/main" id="{66AE383D-C5C1-D0E2-5953-A95CAD17754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74C3286-5065-BA8D-E662-95EFD9B89C46}"/>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2259308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41851-5B9F-63FB-2109-20A703B03A16}"/>
              </a:ext>
            </a:extLst>
          </p:cNvPr>
          <p:cNvSpPr>
            <a:spLocks noGrp="1"/>
          </p:cNvSpPr>
          <p:nvPr>
            <p:ph type="title"/>
          </p:nvPr>
        </p:nvSpPr>
        <p:spPr>
          <a:xfrm>
            <a:off x="838200" y="18255"/>
            <a:ext cx="10515600" cy="1325563"/>
          </a:xfrm>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A05BD400-AB01-57B2-CF57-350D50D260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9CC59469-FAC3-BEE0-9A71-FF13DE061B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CAB425D-8C23-DE36-2E93-BC01F6162E18}"/>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6" name="Footer Placeholder 5">
            <a:extLst>
              <a:ext uri="{FF2B5EF4-FFF2-40B4-BE49-F238E27FC236}">
                <a16:creationId xmlns:a16="http://schemas.microsoft.com/office/drawing/2014/main" id="{5EA5E881-8F20-B043-5CAE-1F7F81E7A87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B54D8CF9-CD77-575A-016F-49363DB70177}"/>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69462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223E-ED6D-A4A0-9882-8C6783BE18E6}"/>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95CCC55-68F4-70A3-4BC1-6F8630DE21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0E50A1-3AA2-C448-FA9B-B6FE155A0C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E5F9FAA0-F704-487A-A006-11007F0702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1B3E8-4FFC-3A8F-2D42-070A60047C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D38FCBA5-48B9-FD27-14C4-DCDF21BA584D}"/>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8" name="Footer Placeholder 7">
            <a:extLst>
              <a:ext uri="{FF2B5EF4-FFF2-40B4-BE49-F238E27FC236}">
                <a16:creationId xmlns:a16="http://schemas.microsoft.com/office/drawing/2014/main" id="{D8D8077B-B0E2-A481-BD7B-0505123FDA7A}"/>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62E08144-C366-6258-AFBD-08880CF16817}"/>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1297083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A487E-5650-5111-2660-AF5831A1BD26}"/>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4C6AB9B8-E362-267D-3B28-F3328A530F12}"/>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4" name="Footer Placeholder 3">
            <a:extLst>
              <a:ext uri="{FF2B5EF4-FFF2-40B4-BE49-F238E27FC236}">
                <a16:creationId xmlns:a16="http://schemas.microsoft.com/office/drawing/2014/main" id="{D6113D4E-91C8-C297-03F7-F5913A0BD3F4}"/>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42ACAE85-24A0-A6E9-D1FB-4718C823DA1F}"/>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2820778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F45D5E-C09E-17DA-C0E3-8F16143CD4FC}"/>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3" name="Footer Placeholder 2">
            <a:extLst>
              <a:ext uri="{FF2B5EF4-FFF2-40B4-BE49-F238E27FC236}">
                <a16:creationId xmlns:a16="http://schemas.microsoft.com/office/drawing/2014/main" id="{CC0AEB52-1C4E-661E-EB38-A7212A8D5FE3}"/>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C3D64488-35E7-D7D9-217A-C6EDDE5F3422}"/>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1640617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5D6F8-B252-A97A-4813-E10E29F733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7FF9C29D-36D5-1BA1-CD8E-8D1E41B2E9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463C9B7-7188-6A82-F96C-9B93E415D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CD29FC-A98E-2A27-AD5B-5645899D0BD8}"/>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6" name="Footer Placeholder 5">
            <a:extLst>
              <a:ext uri="{FF2B5EF4-FFF2-40B4-BE49-F238E27FC236}">
                <a16:creationId xmlns:a16="http://schemas.microsoft.com/office/drawing/2014/main" id="{9751066A-02DA-8D73-E14D-93CAD3BE07A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201D4F4D-5243-E595-69B8-548F5C6D6A8E}"/>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1960831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8EC65-9DDE-27B7-1B49-62F8FD9C80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D68B7B0A-9C9D-9CF9-CE22-CF70DE41FE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E93F6AB6-60FC-A92B-9137-03372F828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1DDBB7-19D7-A350-C16E-12D703BBB8BF}"/>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6" name="Footer Placeholder 5">
            <a:extLst>
              <a:ext uri="{FF2B5EF4-FFF2-40B4-BE49-F238E27FC236}">
                <a16:creationId xmlns:a16="http://schemas.microsoft.com/office/drawing/2014/main" id="{7DDA2547-ABB2-8753-DBD1-E861690F5FE2}"/>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9EF28E9-5490-4F25-F295-400D9F4CE78D}"/>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515038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0B4FA-E931-BC33-625B-152BE4FEE85F}"/>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7620D7F-7E6E-5EAA-EAAC-F2855CCCF9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4DE3C20-11C4-A171-275B-5EE292952790}"/>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5" name="Footer Placeholder 4">
            <a:extLst>
              <a:ext uri="{FF2B5EF4-FFF2-40B4-BE49-F238E27FC236}">
                <a16:creationId xmlns:a16="http://schemas.microsoft.com/office/drawing/2014/main" id="{DC5939A5-E839-ECAE-A59E-76F60B763D1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5497CB0-ED58-B655-9EE9-0C1A838473CD}"/>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1824438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85E5AB-DAEC-F64D-000D-9A872D4179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E4C0C44-974B-0D51-9F91-F41DD086B4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CC1A042-8CDA-1515-EEE2-9066199E1C90}"/>
              </a:ext>
            </a:extLst>
          </p:cNvPr>
          <p:cNvSpPr>
            <a:spLocks noGrp="1"/>
          </p:cNvSpPr>
          <p:nvPr>
            <p:ph type="dt" sz="half" idx="10"/>
          </p:nvPr>
        </p:nvSpPr>
        <p:spPr/>
        <p:txBody>
          <a:bodyPr/>
          <a:lstStyle/>
          <a:p>
            <a:fld id="{9D64DEE3-0E40-4BA2-87E2-A4AF59DCCC9C}" type="datetimeFigureOut">
              <a:rPr lang="en-SG" smtClean="0"/>
              <a:t>20/2/2026</a:t>
            </a:fld>
            <a:endParaRPr lang="en-SG"/>
          </a:p>
        </p:txBody>
      </p:sp>
      <p:sp>
        <p:nvSpPr>
          <p:cNvPr id="5" name="Footer Placeholder 4">
            <a:extLst>
              <a:ext uri="{FF2B5EF4-FFF2-40B4-BE49-F238E27FC236}">
                <a16:creationId xmlns:a16="http://schemas.microsoft.com/office/drawing/2014/main" id="{507B3AC0-06D6-1902-B08A-11C6875DBDB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828EF372-CBAB-8F44-006A-D014BAF02E7E}"/>
              </a:ext>
            </a:extLst>
          </p:cNvPr>
          <p:cNvSpPr>
            <a:spLocks noGrp="1"/>
          </p:cNvSpPr>
          <p:nvPr>
            <p:ph type="sldNum" sz="quarter" idx="12"/>
          </p:nvPr>
        </p:nvSpPr>
        <p:spPr/>
        <p:txBody>
          <a:bodyPr/>
          <a:lstStyle/>
          <a:p>
            <a:fld id="{190FCB8F-8007-4EE1-A4CE-E676D1BB4C62}" type="slidenum">
              <a:rPr lang="en-SG" smtClean="0"/>
              <a:t>‹#›</a:t>
            </a:fld>
            <a:endParaRPr lang="en-SG"/>
          </a:p>
        </p:txBody>
      </p:sp>
    </p:spTree>
    <p:extLst>
      <p:ext uri="{BB962C8B-B14F-4D97-AF65-F5344CB8AC3E}">
        <p14:creationId xmlns:p14="http://schemas.microsoft.com/office/powerpoint/2010/main" val="1505262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474CBD-EE91-4A1C-F4D7-CD9CA5E51B4E}"/>
              </a:ext>
            </a:extLst>
          </p:cNvPr>
          <p:cNvSpPr>
            <a:spLocks noGrp="1"/>
          </p:cNvSpPr>
          <p:nvPr>
            <p:ph type="title"/>
          </p:nvPr>
        </p:nvSpPr>
        <p:spPr>
          <a:xfrm>
            <a:off x="838200" y="1825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609493F-1623-7BAE-DA6C-7D0A464A95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1B0BC15-8366-19C5-C661-83210D8160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64DEE3-0E40-4BA2-87E2-A4AF59DCCC9C}" type="datetimeFigureOut">
              <a:rPr lang="en-SG" smtClean="0"/>
              <a:t>20/2/2026</a:t>
            </a:fld>
            <a:endParaRPr lang="en-SG"/>
          </a:p>
        </p:txBody>
      </p:sp>
      <p:sp>
        <p:nvSpPr>
          <p:cNvPr id="5" name="Footer Placeholder 4">
            <a:extLst>
              <a:ext uri="{FF2B5EF4-FFF2-40B4-BE49-F238E27FC236}">
                <a16:creationId xmlns:a16="http://schemas.microsoft.com/office/drawing/2014/main" id="{0A305DEC-7514-EFCD-FE1E-EF1B4FDCAC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17A753C1-7BD2-FB10-15AD-8835FA37BE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0FCB8F-8007-4EE1-A4CE-E676D1BB4C62}" type="slidenum">
              <a:rPr lang="en-SG" smtClean="0"/>
              <a:t>‹#›</a:t>
            </a:fld>
            <a:endParaRPr lang="en-SG"/>
          </a:p>
        </p:txBody>
      </p:sp>
      <p:sp>
        <p:nvSpPr>
          <p:cNvPr id="7" name="Rectangle 6">
            <a:extLst>
              <a:ext uri="{FF2B5EF4-FFF2-40B4-BE49-F238E27FC236}">
                <a16:creationId xmlns:a16="http://schemas.microsoft.com/office/drawing/2014/main" id="{9DFB7E06-EF52-0ADD-B3AF-208B087759E4}"/>
              </a:ext>
            </a:extLst>
          </p:cNvPr>
          <p:cNvSpPr/>
          <p:nvPr userDrawn="1"/>
        </p:nvSpPr>
        <p:spPr>
          <a:xfrm>
            <a:off x="838200" y="995680"/>
            <a:ext cx="10515600" cy="7112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163960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DF319-3FA0-8594-3788-72F3CBB2B492}"/>
              </a:ext>
            </a:extLst>
          </p:cNvPr>
          <p:cNvSpPr>
            <a:spLocks noGrp="1"/>
          </p:cNvSpPr>
          <p:nvPr>
            <p:ph type="ctrTitle"/>
          </p:nvPr>
        </p:nvSpPr>
        <p:spPr>
          <a:xfrm>
            <a:off x="832757" y="1602410"/>
            <a:ext cx="10526486" cy="3653179"/>
          </a:xfrm>
        </p:spPr>
        <p:txBody>
          <a:bodyPr anchor="t">
            <a:normAutofit/>
          </a:bodyPr>
          <a:lstStyle/>
          <a:p>
            <a:r>
              <a:rPr lang="en-US" b="1" dirty="0"/>
              <a:t>Project 1: Incentive Design Under Adversarial Conditions</a:t>
            </a:r>
            <a:endParaRPr lang="en-SG" dirty="0"/>
          </a:p>
        </p:txBody>
      </p:sp>
      <p:sp>
        <p:nvSpPr>
          <p:cNvPr id="3" name="Subtitle 2">
            <a:extLst>
              <a:ext uri="{FF2B5EF4-FFF2-40B4-BE49-F238E27FC236}">
                <a16:creationId xmlns:a16="http://schemas.microsoft.com/office/drawing/2014/main" id="{C41F404D-62AD-3DA8-97BD-B858EDC66285}"/>
              </a:ext>
            </a:extLst>
          </p:cNvPr>
          <p:cNvSpPr>
            <a:spLocks noGrp="1"/>
          </p:cNvSpPr>
          <p:nvPr>
            <p:ph type="subTitle" idx="1"/>
          </p:nvPr>
        </p:nvSpPr>
        <p:spPr>
          <a:xfrm>
            <a:off x="772885" y="553470"/>
            <a:ext cx="2231571" cy="654845"/>
          </a:xfrm>
        </p:spPr>
        <p:txBody>
          <a:bodyPr>
            <a:noAutofit/>
          </a:bodyPr>
          <a:lstStyle/>
          <a:p>
            <a:r>
              <a:rPr lang="en-US" sz="2800" b="1" dirty="0"/>
              <a:t>By Elijah Tan</a:t>
            </a:r>
            <a:endParaRPr lang="en-SG" sz="2800" b="1" dirty="0"/>
          </a:p>
        </p:txBody>
      </p:sp>
    </p:spTree>
    <p:extLst>
      <p:ext uri="{BB962C8B-B14F-4D97-AF65-F5344CB8AC3E}">
        <p14:creationId xmlns:p14="http://schemas.microsoft.com/office/powerpoint/2010/main" val="4268161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242F-2B18-AC54-B1B5-B4F2664E0209}"/>
              </a:ext>
            </a:extLst>
          </p:cNvPr>
          <p:cNvSpPr>
            <a:spLocks noGrp="1"/>
          </p:cNvSpPr>
          <p:nvPr>
            <p:ph type="title"/>
          </p:nvPr>
        </p:nvSpPr>
        <p:spPr/>
        <p:txBody>
          <a:bodyPr/>
          <a:lstStyle/>
          <a:p>
            <a:r>
              <a:rPr lang="en-US" dirty="0"/>
              <a:t>Problem Statement</a:t>
            </a:r>
            <a:endParaRPr lang="en-SG" dirty="0"/>
          </a:p>
        </p:txBody>
      </p:sp>
      <p:sp>
        <p:nvSpPr>
          <p:cNvPr id="3" name="Content Placeholder 2">
            <a:extLst>
              <a:ext uri="{FF2B5EF4-FFF2-40B4-BE49-F238E27FC236}">
                <a16:creationId xmlns:a16="http://schemas.microsoft.com/office/drawing/2014/main" id="{E642A18B-0989-A268-457C-6933EA15EFA4}"/>
              </a:ext>
            </a:extLst>
          </p:cNvPr>
          <p:cNvSpPr>
            <a:spLocks noGrp="1"/>
          </p:cNvSpPr>
          <p:nvPr>
            <p:ph sz="half" idx="1"/>
          </p:nvPr>
        </p:nvSpPr>
        <p:spPr>
          <a:xfrm>
            <a:off x="838200" y="1253331"/>
            <a:ext cx="5181600" cy="4351338"/>
          </a:xfrm>
        </p:spPr>
        <p:txBody>
          <a:bodyPr/>
          <a:lstStyle/>
          <a:p>
            <a:pPr marL="0" indent="0">
              <a:buNone/>
            </a:pPr>
            <a:r>
              <a:rPr lang="en-US" b="1" dirty="0"/>
              <a:t>Primary fear: </a:t>
            </a:r>
            <a:r>
              <a:rPr lang="en-US" i="1" dirty="0"/>
              <a:t>“I don’t want to help patients switch to competitors.”</a:t>
            </a:r>
          </a:p>
          <a:p>
            <a:endParaRPr lang="en-US" i="1" dirty="0"/>
          </a:p>
          <a:p>
            <a:pPr marL="0" indent="0">
              <a:buNone/>
            </a:pPr>
            <a:r>
              <a:rPr lang="en-US" dirty="0"/>
              <a:t>Translated:</a:t>
            </a:r>
          </a:p>
          <a:p>
            <a:pPr marL="0" indent="0">
              <a:buNone/>
            </a:pPr>
            <a:r>
              <a:rPr lang="en-US" b="1" dirty="0"/>
              <a:t>Defensive behavior caused by competitive fear</a:t>
            </a:r>
          </a:p>
        </p:txBody>
      </p:sp>
      <p:sp>
        <p:nvSpPr>
          <p:cNvPr id="4" name="Content Placeholder 3">
            <a:extLst>
              <a:ext uri="{FF2B5EF4-FFF2-40B4-BE49-F238E27FC236}">
                <a16:creationId xmlns:a16="http://schemas.microsoft.com/office/drawing/2014/main" id="{680E2C25-CFB5-82E6-BF15-A5566E7C0DEF}"/>
              </a:ext>
            </a:extLst>
          </p:cNvPr>
          <p:cNvSpPr>
            <a:spLocks noGrp="1"/>
          </p:cNvSpPr>
          <p:nvPr>
            <p:ph sz="half" idx="2"/>
          </p:nvPr>
        </p:nvSpPr>
        <p:spPr>
          <a:xfrm>
            <a:off x="6172200" y="1253331"/>
            <a:ext cx="5181600" cy="4351338"/>
          </a:xfrm>
        </p:spPr>
        <p:txBody>
          <a:bodyPr/>
          <a:lstStyle/>
          <a:p>
            <a:pPr marL="0" indent="0">
              <a:buNone/>
            </a:pPr>
            <a:r>
              <a:rPr lang="en-US" b="1" dirty="0"/>
              <a:t>Secondary fear: </a:t>
            </a:r>
            <a:r>
              <a:rPr lang="en-US" i="1" dirty="0"/>
              <a:t>“What if another physio judges my treatment?”</a:t>
            </a:r>
            <a:endParaRPr lang="en-US" dirty="0"/>
          </a:p>
          <a:p>
            <a:pPr marL="0" indent="0">
              <a:buNone/>
            </a:pPr>
            <a:endParaRPr lang="en-SG" dirty="0"/>
          </a:p>
          <a:p>
            <a:pPr marL="0" indent="0">
              <a:buNone/>
            </a:pPr>
            <a:r>
              <a:rPr lang="en-SG" dirty="0"/>
              <a:t>Translated:</a:t>
            </a:r>
          </a:p>
          <a:p>
            <a:pPr marL="0" indent="0">
              <a:buNone/>
            </a:pPr>
            <a:r>
              <a:rPr lang="en-SG" b="1" dirty="0"/>
              <a:t>Judgment and reputational risk</a:t>
            </a:r>
          </a:p>
        </p:txBody>
      </p:sp>
      <p:sp>
        <p:nvSpPr>
          <p:cNvPr id="5" name="Rectangle 4">
            <a:extLst>
              <a:ext uri="{FF2B5EF4-FFF2-40B4-BE49-F238E27FC236}">
                <a16:creationId xmlns:a16="http://schemas.microsoft.com/office/drawing/2014/main" id="{C92054A5-ED18-D48D-D085-FBFF53DC1D9A}"/>
              </a:ext>
            </a:extLst>
          </p:cNvPr>
          <p:cNvSpPr/>
          <p:nvPr/>
        </p:nvSpPr>
        <p:spPr>
          <a:xfrm>
            <a:off x="838198" y="5203371"/>
            <a:ext cx="10515601" cy="9663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t>Problem statement:</a:t>
            </a:r>
          </a:p>
          <a:p>
            <a:pPr algn="ctr"/>
            <a:r>
              <a:rPr lang="en-US" b="1" dirty="0"/>
              <a:t>How might we encourage physiotherapists to avoid defensive retention strategies and incentivize patient care as the primary focus?</a:t>
            </a:r>
            <a:endParaRPr lang="en-SG" b="1" dirty="0"/>
          </a:p>
        </p:txBody>
      </p:sp>
      <p:sp>
        <p:nvSpPr>
          <p:cNvPr id="6" name="Rectangle 5">
            <a:extLst>
              <a:ext uri="{FF2B5EF4-FFF2-40B4-BE49-F238E27FC236}">
                <a16:creationId xmlns:a16="http://schemas.microsoft.com/office/drawing/2014/main" id="{B0D91876-F68D-346F-667F-F324C226CDE9}"/>
              </a:ext>
            </a:extLst>
          </p:cNvPr>
          <p:cNvSpPr/>
          <p:nvPr/>
        </p:nvSpPr>
        <p:spPr>
          <a:xfrm>
            <a:off x="838198" y="4528458"/>
            <a:ext cx="10515601" cy="6749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Tertiary Fear: “Sharing creates legal liabilities”</a:t>
            </a:r>
            <a:endParaRPr lang="en-SG" sz="2800" b="1" dirty="0"/>
          </a:p>
        </p:txBody>
      </p:sp>
    </p:spTree>
    <p:extLst>
      <p:ext uri="{BB962C8B-B14F-4D97-AF65-F5344CB8AC3E}">
        <p14:creationId xmlns:p14="http://schemas.microsoft.com/office/powerpoint/2010/main" val="207713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B674-E859-8DF5-3DDF-903AA98C8833}"/>
              </a:ext>
            </a:extLst>
          </p:cNvPr>
          <p:cNvSpPr>
            <a:spLocks noGrp="1"/>
          </p:cNvSpPr>
          <p:nvPr>
            <p:ph type="title"/>
          </p:nvPr>
        </p:nvSpPr>
        <p:spPr/>
        <p:txBody>
          <a:bodyPr/>
          <a:lstStyle/>
          <a:p>
            <a:r>
              <a:rPr lang="en-US" dirty="0"/>
              <a:t>Why Current Approaches Fail</a:t>
            </a:r>
            <a:endParaRPr lang="en-SG" dirty="0"/>
          </a:p>
        </p:txBody>
      </p:sp>
      <p:sp>
        <p:nvSpPr>
          <p:cNvPr id="4" name="Content Placeholder 2">
            <a:extLst>
              <a:ext uri="{FF2B5EF4-FFF2-40B4-BE49-F238E27FC236}">
                <a16:creationId xmlns:a16="http://schemas.microsoft.com/office/drawing/2014/main" id="{03E06216-971C-51E0-C1BE-04633925AB86}"/>
              </a:ext>
            </a:extLst>
          </p:cNvPr>
          <p:cNvSpPr>
            <a:spLocks noGrp="1"/>
          </p:cNvSpPr>
          <p:nvPr>
            <p:ph sz="half" idx="1"/>
          </p:nvPr>
        </p:nvSpPr>
        <p:spPr>
          <a:xfrm>
            <a:off x="838200" y="1825625"/>
            <a:ext cx="3450771" cy="4351338"/>
          </a:xfrm>
        </p:spPr>
        <p:txBody>
          <a:bodyPr/>
          <a:lstStyle/>
          <a:p>
            <a:pPr marL="0" indent="0">
              <a:buNone/>
            </a:pPr>
            <a:r>
              <a:rPr lang="en-US" dirty="0"/>
              <a:t>Altruistic sharing assumptions</a:t>
            </a:r>
          </a:p>
          <a:p>
            <a:pPr marL="0" indent="0">
              <a:buNone/>
            </a:pPr>
            <a:endParaRPr lang="en-US" dirty="0"/>
          </a:p>
          <a:p>
            <a:pPr marL="0" indent="0">
              <a:buNone/>
            </a:pPr>
            <a:r>
              <a:rPr lang="en-SG" sz="1800" dirty="0"/>
              <a:t>Encourages rational decision-making not virtue driven decision making.</a:t>
            </a:r>
          </a:p>
          <a:p>
            <a:pPr marL="0" indent="0">
              <a:buNone/>
            </a:pPr>
            <a:endParaRPr lang="en-SG" sz="1800" dirty="0"/>
          </a:p>
        </p:txBody>
      </p:sp>
      <p:sp>
        <p:nvSpPr>
          <p:cNvPr id="5" name="Content Placeholder 3">
            <a:extLst>
              <a:ext uri="{FF2B5EF4-FFF2-40B4-BE49-F238E27FC236}">
                <a16:creationId xmlns:a16="http://schemas.microsoft.com/office/drawing/2014/main" id="{CB600BA7-4CE8-07BB-0C97-CBC580DF2890}"/>
              </a:ext>
            </a:extLst>
          </p:cNvPr>
          <p:cNvSpPr txBox="1">
            <a:spLocks/>
          </p:cNvSpPr>
          <p:nvPr/>
        </p:nvSpPr>
        <p:spPr>
          <a:xfrm>
            <a:off x="7903029" y="1825625"/>
            <a:ext cx="3450771"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No downside to hoarding</a:t>
            </a:r>
          </a:p>
          <a:p>
            <a:pPr marL="0" indent="0">
              <a:buFont typeface="Arial" panose="020B0604020202020204" pitchFamily="34" charset="0"/>
              <a:buNone/>
            </a:pPr>
            <a:endParaRPr lang="en-US" dirty="0"/>
          </a:p>
          <a:p>
            <a:pPr marL="0" indent="0">
              <a:buFont typeface="Arial" panose="020B0604020202020204" pitchFamily="34" charset="0"/>
              <a:buNone/>
            </a:pPr>
            <a:r>
              <a:rPr lang="en-US" sz="1800" dirty="0"/>
              <a:t>Current clinics have no downside to hoarding information as their goals are business orientated, if they were to lose business, it makes no sense why they would willingly make their competitors lives easier other than relying on virtue ethics and a commitment to ensuring the patient is cured.</a:t>
            </a:r>
          </a:p>
        </p:txBody>
      </p:sp>
      <p:sp>
        <p:nvSpPr>
          <p:cNvPr id="6" name="Content Placeholder 3">
            <a:extLst>
              <a:ext uri="{FF2B5EF4-FFF2-40B4-BE49-F238E27FC236}">
                <a16:creationId xmlns:a16="http://schemas.microsoft.com/office/drawing/2014/main" id="{97B3EFE5-2EFE-3B60-5599-016D8F82C16B}"/>
              </a:ext>
            </a:extLst>
          </p:cNvPr>
          <p:cNvSpPr txBox="1">
            <a:spLocks/>
          </p:cNvSpPr>
          <p:nvPr/>
        </p:nvSpPr>
        <p:spPr>
          <a:xfrm>
            <a:off x="4370614" y="1825625"/>
            <a:ext cx="3450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dirty="0"/>
              <a:t>Raw note exposure</a:t>
            </a:r>
          </a:p>
          <a:p>
            <a:pPr marL="0" indent="0">
              <a:buNone/>
            </a:pPr>
            <a:endParaRPr lang="en-SG" dirty="0"/>
          </a:p>
          <a:p>
            <a:pPr marL="0" indent="0">
              <a:buNone/>
            </a:pPr>
            <a:endParaRPr lang="en-SG" dirty="0"/>
          </a:p>
          <a:p>
            <a:pPr marL="0" indent="0">
              <a:buNone/>
            </a:pPr>
            <a:r>
              <a:rPr lang="en-SG" sz="1800" dirty="0"/>
              <a:t>Under scrutiny for peer judgement and many issues.</a:t>
            </a:r>
          </a:p>
          <a:p>
            <a:pPr marL="0" indent="0">
              <a:buNone/>
            </a:pPr>
            <a:r>
              <a:rPr lang="en-SG" sz="1800" dirty="0"/>
              <a:t>Complete treatment history can lead to legal repercussions based on patient feelings and physio comments.</a:t>
            </a:r>
          </a:p>
          <a:p>
            <a:pPr marL="0" indent="0">
              <a:buNone/>
            </a:pPr>
            <a:endParaRPr lang="en-SG" sz="1800" dirty="0"/>
          </a:p>
        </p:txBody>
      </p:sp>
    </p:spTree>
    <p:extLst>
      <p:ext uri="{BB962C8B-B14F-4D97-AF65-F5344CB8AC3E}">
        <p14:creationId xmlns:p14="http://schemas.microsoft.com/office/powerpoint/2010/main" val="256086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B14A8-DD37-DAAA-1C1B-0DD08FD7C6E6}"/>
              </a:ext>
            </a:extLst>
          </p:cNvPr>
          <p:cNvSpPr>
            <a:spLocks noGrp="1"/>
          </p:cNvSpPr>
          <p:nvPr>
            <p:ph type="title"/>
          </p:nvPr>
        </p:nvSpPr>
        <p:spPr/>
        <p:txBody>
          <a:bodyPr/>
          <a:lstStyle/>
          <a:p>
            <a:r>
              <a:rPr lang="en-US" dirty="0"/>
              <a:t>Design Principles</a:t>
            </a:r>
            <a:endParaRPr lang="en-SG" dirty="0"/>
          </a:p>
        </p:txBody>
      </p:sp>
      <p:sp>
        <p:nvSpPr>
          <p:cNvPr id="5" name="Content Placeholder 2">
            <a:extLst>
              <a:ext uri="{FF2B5EF4-FFF2-40B4-BE49-F238E27FC236}">
                <a16:creationId xmlns:a16="http://schemas.microsoft.com/office/drawing/2014/main" id="{6B4C96E0-599A-2C97-5FA7-D1C363094483}"/>
              </a:ext>
            </a:extLst>
          </p:cNvPr>
          <p:cNvSpPr txBox="1">
            <a:spLocks/>
          </p:cNvSpPr>
          <p:nvPr/>
        </p:nvSpPr>
        <p:spPr>
          <a:xfrm>
            <a:off x="7903029" y="1825625"/>
            <a:ext cx="3450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Avoid information overload</a:t>
            </a:r>
          </a:p>
          <a:p>
            <a:pPr marL="0" indent="0">
              <a:buFont typeface="Arial" panose="020B0604020202020204" pitchFamily="34" charset="0"/>
              <a:buNone/>
            </a:pPr>
            <a:endParaRPr lang="en-US" dirty="0"/>
          </a:p>
          <a:p>
            <a:pPr marL="0" indent="0">
              <a:buNone/>
            </a:pPr>
            <a:r>
              <a:rPr lang="en-US" sz="1800" dirty="0"/>
              <a:t>Customers are NOT technical experts, focus on accessibility over complicated features.</a:t>
            </a:r>
          </a:p>
          <a:p>
            <a:pPr marL="0" indent="0">
              <a:buNone/>
            </a:pPr>
            <a:endParaRPr lang="en-US" sz="1800" dirty="0"/>
          </a:p>
          <a:p>
            <a:pPr marL="0" indent="0">
              <a:buNone/>
            </a:pPr>
            <a:endParaRPr lang="en-US" sz="1800" dirty="0"/>
          </a:p>
        </p:txBody>
      </p:sp>
      <p:sp>
        <p:nvSpPr>
          <p:cNvPr id="6" name="Content Placeholder 3">
            <a:extLst>
              <a:ext uri="{FF2B5EF4-FFF2-40B4-BE49-F238E27FC236}">
                <a16:creationId xmlns:a16="http://schemas.microsoft.com/office/drawing/2014/main" id="{EA471C07-99A3-F9EF-1D2C-4E69ECCA121D}"/>
              </a:ext>
            </a:extLst>
          </p:cNvPr>
          <p:cNvSpPr txBox="1">
            <a:spLocks/>
          </p:cNvSpPr>
          <p:nvPr/>
        </p:nvSpPr>
        <p:spPr>
          <a:xfrm>
            <a:off x="838199" y="1825625"/>
            <a:ext cx="3450771"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Reframe treatment as a team effort</a:t>
            </a:r>
          </a:p>
          <a:p>
            <a:pPr marL="0" indent="0">
              <a:buFont typeface="Arial" panose="020B0604020202020204" pitchFamily="34" charset="0"/>
              <a:buNone/>
            </a:pPr>
            <a:endParaRPr lang="en-US" dirty="0"/>
          </a:p>
          <a:p>
            <a:pPr marL="0" indent="0">
              <a:buFont typeface="Arial" panose="020B0604020202020204" pitchFamily="34" charset="0"/>
              <a:buNone/>
            </a:pPr>
            <a:r>
              <a:rPr lang="en-US" sz="1800" dirty="0"/>
              <a:t>The goal is for physios to understand that the patient comes first, ensuring there is no downsides to referral with the upside being helping patients get their lives back.</a:t>
            </a:r>
          </a:p>
        </p:txBody>
      </p:sp>
      <p:sp>
        <p:nvSpPr>
          <p:cNvPr id="7" name="Content Placeholder 3">
            <a:extLst>
              <a:ext uri="{FF2B5EF4-FFF2-40B4-BE49-F238E27FC236}">
                <a16:creationId xmlns:a16="http://schemas.microsoft.com/office/drawing/2014/main" id="{5E62D590-1211-0F49-4125-D4F302348A5F}"/>
              </a:ext>
            </a:extLst>
          </p:cNvPr>
          <p:cNvSpPr txBox="1">
            <a:spLocks/>
          </p:cNvSpPr>
          <p:nvPr/>
        </p:nvSpPr>
        <p:spPr>
          <a:xfrm>
            <a:off x="4370614" y="1825625"/>
            <a:ext cx="3450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dirty="0"/>
              <a:t>Incentivise selfishness</a:t>
            </a:r>
          </a:p>
          <a:p>
            <a:pPr marL="0" indent="0">
              <a:buNone/>
            </a:pPr>
            <a:endParaRPr lang="en-SG" dirty="0"/>
          </a:p>
          <a:p>
            <a:pPr marL="0" indent="0">
              <a:buNone/>
            </a:pPr>
            <a:r>
              <a:rPr lang="en-SG" sz="1800" dirty="0"/>
              <a:t>Ensure actions are motivated by personal gain, not relying on virtue signalling</a:t>
            </a:r>
          </a:p>
          <a:p>
            <a:pPr marL="0" indent="0">
              <a:buNone/>
            </a:pPr>
            <a:endParaRPr lang="en-SG" sz="1800" dirty="0"/>
          </a:p>
        </p:txBody>
      </p:sp>
    </p:spTree>
    <p:extLst>
      <p:ext uri="{BB962C8B-B14F-4D97-AF65-F5344CB8AC3E}">
        <p14:creationId xmlns:p14="http://schemas.microsoft.com/office/powerpoint/2010/main" val="122107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A2B04-1895-11EB-2E55-689F027E6EDB}"/>
              </a:ext>
            </a:extLst>
          </p:cNvPr>
          <p:cNvSpPr>
            <a:spLocks noGrp="1"/>
          </p:cNvSpPr>
          <p:nvPr>
            <p:ph type="title"/>
          </p:nvPr>
        </p:nvSpPr>
        <p:spPr/>
        <p:txBody>
          <a:bodyPr/>
          <a:lstStyle/>
          <a:p>
            <a:r>
              <a:rPr lang="en-US" dirty="0"/>
              <a:t>Customer Journey Map</a:t>
            </a:r>
            <a:endParaRPr lang="en-SG" dirty="0"/>
          </a:p>
        </p:txBody>
      </p:sp>
      <p:sp>
        <p:nvSpPr>
          <p:cNvPr id="4" name="Rectangle 3">
            <a:extLst>
              <a:ext uri="{FF2B5EF4-FFF2-40B4-BE49-F238E27FC236}">
                <a16:creationId xmlns:a16="http://schemas.microsoft.com/office/drawing/2014/main" id="{4AC7EAD7-665E-1C77-5C6D-4CA25FB03F1F}"/>
              </a:ext>
            </a:extLst>
          </p:cNvPr>
          <p:cNvSpPr/>
          <p:nvPr/>
        </p:nvSpPr>
        <p:spPr>
          <a:xfrm>
            <a:off x="1088571" y="1856014"/>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Patient experiences joint pain</a:t>
            </a:r>
            <a:endParaRPr lang="en-SG" dirty="0"/>
          </a:p>
        </p:txBody>
      </p:sp>
      <p:sp>
        <p:nvSpPr>
          <p:cNvPr id="5" name="Rectangle 4">
            <a:extLst>
              <a:ext uri="{FF2B5EF4-FFF2-40B4-BE49-F238E27FC236}">
                <a16:creationId xmlns:a16="http://schemas.microsoft.com/office/drawing/2014/main" id="{61F59EF1-0008-272C-4AA1-F784D996A2C7}"/>
              </a:ext>
            </a:extLst>
          </p:cNvPr>
          <p:cNvSpPr/>
          <p:nvPr/>
        </p:nvSpPr>
        <p:spPr>
          <a:xfrm>
            <a:off x="3592283" y="1856014"/>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Patient sees doctor and gets referral for physio appointment next week</a:t>
            </a:r>
            <a:endParaRPr lang="en-SG" dirty="0"/>
          </a:p>
        </p:txBody>
      </p:sp>
      <p:sp>
        <p:nvSpPr>
          <p:cNvPr id="6" name="Rectangle 5">
            <a:extLst>
              <a:ext uri="{FF2B5EF4-FFF2-40B4-BE49-F238E27FC236}">
                <a16:creationId xmlns:a16="http://schemas.microsoft.com/office/drawing/2014/main" id="{1E1DE698-5C4A-5738-ED48-A283F05AE759}"/>
              </a:ext>
            </a:extLst>
          </p:cNvPr>
          <p:cNvSpPr/>
          <p:nvPr/>
        </p:nvSpPr>
        <p:spPr>
          <a:xfrm>
            <a:off x="8599707" y="1856014"/>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Patient is not getting better and Physio is unable to treat patient and refers to someone else</a:t>
            </a:r>
            <a:endParaRPr lang="en-SG" dirty="0"/>
          </a:p>
        </p:txBody>
      </p:sp>
      <p:sp>
        <p:nvSpPr>
          <p:cNvPr id="7" name="Rectangle 6">
            <a:extLst>
              <a:ext uri="{FF2B5EF4-FFF2-40B4-BE49-F238E27FC236}">
                <a16:creationId xmlns:a16="http://schemas.microsoft.com/office/drawing/2014/main" id="{89DD61B3-FC4E-84D4-CE0D-9C6F8A0941F9}"/>
              </a:ext>
            </a:extLst>
          </p:cNvPr>
          <p:cNvSpPr/>
          <p:nvPr/>
        </p:nvSpPr>
        <p:spPr>
          <a:xfrm>
            <a:off x="1088571" y="4177370"/>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New Physio receives patient with no prior knowledge about symptoms</a:t>
            </a:r>
            <a:endParaRPr lang="en-SG" dirty="0"/>
          </a:p>
        </p:txBody>
      </p:sp>
      <p:sp>
        <p:nvSpPr>
          <p:cNvPr id="8" name="Rectangle 7">
            <a:extLst>
              <a:ext uri="{FF2B5EF4-FFF2-40B4-BE49-F238E27FC236}">
                <a16:creationId xmlns:a16="http://schemas.microsoft.com/office/drawing/2014/main" id="{34B84810-9211-A0A8-67FF-50AF86A7C044}"/>
              </a:ext>
            </a:extLst>
          </p:cNvPr>
          <p:cNvSpPr/>
          <p:nvPr/>
        </p:nvSpPr>
        <p:spPr>
          <a:xfrm>
            <a:off x="3592282" y="4177370"/>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New Physio provides the exact same treatments as previous physio</a:t>
            </a:r>
            <a:endParaRPr lang="en-SG" dirty="0"/>
          </a:p>
        </p:txBody>
      </p:sp>
      <p:sp>
        <p:nvSpPr>
          <p:cNvPr id="9" name="Rectangle 8">
            <a:extLst>
              <a:ext uri="{FF2B5EF4-FFF2-40B4-BE49-F238E27FC236}">
                <a16:creationId xmlns:a16="http://schemas.microsoft.com/office/drawing/2014/main" id="{AB1EF8D8-E8FD-3C44-7564-71DD7817F832}"/>
              </a:ext>
            </a:extLst>
          </p:cNvPr>
          <p:cNvSpPr/>
          <p:nvPr/>
        </p:nvSpPr>
        <p:spPr>
          <a:xfrm>
            <a:off x="6095995" y="4161041"/>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Same treatment isn’t working, tries another treatment for 4 weeks</a:t>
            </a:r>
            <a:endParaRPr lang="en-SG" dirty="0"/>
          </a:p>
        </p:txBody>
      </p:sp>
      <p:sp>
        <p:nvSpPr>
          <p:cNvPr id="10" name="Rectangle 9">
            <a:extLst>
              <a:ext uri="{FF2B5EF4-FFF2-40B4-BE49-F238E27FC236}">
                <a16:creationId xmlns:a16="http://schemas.microsoft.com/office/drawing/2014/main" id="{DAC96E68-DD59-CC22-E425-6A641FBCF48D}"/>
              </a:ext>
            </a:extLst>
          </p:cNvPr>
          <p:cNvSpPr/>
          <p:nvPr/>
        </p:nvSpPr>
        <p:spPr>
          <a:xfrm>
            <a:off x="6095995" y="1856014"/>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Physio tries a few treatments for 4-5 weeks</a:t>
            </a:r>
            <a:endParaRPr lang="en-SG" dirty="0"/>
          </a:p>
        </p:txBody>
      </p:sp>
      <p:sp>
        <p:nvSpPr>
          <p:cNvPr id="12" name="Rectangle 11">
            <a:extLst>
              <a:ext uri="{FF2B5EF4-FFF2-40B4-BE49-F238E27FC236}">
                <a16:creationId xmlns:a16="http://schemas.microsoft.com/office/drawing/2014/main" id="{A8B4DB92-77F4-BCA7-3961-B54975142B03}"/>
              </a:ext>
            </a:extLst>
          </p:cNvPr>
          <p:cNvSpPr/>
          <p:nvPr/>
        </p:nvSpPr>
        <p:spPr>
          <a:xfrm>
            <a:off x="8599707" y="4161041"/>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New treatment works well and patient feels better</a:t>
            </a:r>
            <a:endParaRPr lang="en-SG" dirty="0"/>
          </a:p>
        </p:txBody>
      </p:sp>
      <p:sp>
        <p:nvSpPr>
          <p:cNvPr id="14" name="Arrow: Left-Right 13">
            <a:extLst>
              <a:ext uri="{FF2B5EF4-FFF2-40B4-BE49-F238E27FC236}">
                <a16:creationId xmlns:a16="http://schemas.microsoft.com/office/drawing/2014/main" id="{2E494C4B-1C1B-E294-6481-B318A78AB29D}"/>
              </a:ext>
            </a:extLst>
          </p:cNvPr>
          <p:cNvSpPr/>
          <p:nvPr/>
        </p:nvSpPr>
        <p:spPr>
          <a:xfrm>
            <a:off x="1088571" y="3378064"/>
            <a:ext cx="9895107" cy="474685"/>
          </a:xfrm>
          <a:prstGeom prst="lef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Estimated time taken: 8-22 weeks</a:t>
            </a:r>
            <a:endParaRPr lang="en-SG" dirty="0"/>
          </a:p>
        </p:txBody>
      </p:sp>
      <p:sp>
        <p:nvSpPr>
          <p:cNvPr id="15" name="TextBox 14">
            <a:extLst>
              <a:ext uri="{FF2B5EF4-FFF2-40B4-BE49-F238E27FC236}">
                <a16:creationId xmlns:a16="http://schemas.microsoft.com/office/drawing/2014/main" id="{EF4D25E0-F74F-B1DB-1CF3-CD7478E1AD72}"/>
              </a:ext>
            </a:extLst>
          </p:cNvPr>
          <p:cNvSpPr txBox="1"/>
          <p:nvPr/>
        </p:nvSpPr>
        <p:spPr>
          <a:xfrm>
            <a:off x="5236028" y="3086100"/>
            <a:ext cx="1959429" cy="369332"/>
          </a:xfrm>
          <a:prstGeom prst="rect">
            <a:avLst/>
          </a:prstGeom>
          <a:noFill/>
        </p:spPr>
        <p:txBody>
          <a:bodyPr wrap="square" rtlCol="0">
            <a:spAutoFit/>
          </a:bodyPr>
          <a:lstStyle/>
          <a:p>
            <a:r>
              <a:rPr lang="en-US" dirty="0"/>
              <a:t>4-6 week process</a:t>
            </a:r>
            <a:endParaRPr lang="en-SG" dirty="0"/>
          </a:p>
        </p:txBody>
      </p:sp>
      <p:sp>
        <p:nvSpPr>
          <p:cNvPr id="16" name="TextBox 15">
            <a:extLst>
              <a:ext uri="{FF2B5EF4-FFF2-40B4-BE49-F238E27FC236}">
                <a16:creationId xmlns:a16="http://schemas.microsoft.com/office/drawing/2014/main" id="{98103A89-2F8E-F8D4-1CC1-44833CA43970}"/>
              </a:ext>
            </a:extLst>
          </p:cNvPr>
          <p:cNvSpPr txBox="1"/>
          <p:nvPr/>
        </p:nvSpPr>
        <p:spPr>
          <a:xfrm>
            <a:off x="5236028" y="3782235"/>
            <a:ext cx="2144486" cy="369332"/>
          </a:xfrm>
          <a:prstGeom prst="rect">
            <a:avLst/>
          </a:prstGeom>
          <a:noFill/>
        </p:spPr>
        <p:txBody>
          <a:bodyPr wrap="square" rtlCol="0">
            <a:spAutoFit/>
          </a:bodyPr>
          <a:lstStyle/>
          <a:p>
            <a:r>
              <a:rPr lang="en-US" dirty="0"/>
              <a:t>4-16 week process</a:t>
            </a:r>
            <a:endParaRPr lang="en-SG" dirty="0"/>
          </a:p>
        </p:txBody>
      </p:sp>
    </p:spTree>
    <p:extLst>
      <p:ext uri="{BB962C8B-B14F-4D97-AF65-F5344CB8AC3E}">
        <p14:creationId xmlns:p14="http://schemas.microsoft.com/office/powerpoint/2010/main" val="2341113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160AB-954D-933C-5E4C-75B3E5913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B8C0D-5148-D3B6-2B19-45FFC377DA26}"/>
              </a:ext>
            </a:extLst>
          </p:cNvPr>
          <p:cNvSpPr>
            <a:spLocks noGrp="1"/>
          </p:cNvSpPr>
          <p:nvPr>
            <p:ph type="title"/>
          </p:nvPr>
        </p:nvSpPr>
        <p:spPr/>
        <p:txBody>
          <a:bodyPr/>
          <a:lstStyle/>
          <a:p>
            <a:r>
              <a:rPr lang="en-US" dirty="0"/>
              <a:t>Customer Journey Map</a:t>
            </a:r>
            <a:endParaRPr lang="en-SG" dirty="0"/>
          </a:p>
        </p:txBody>
      </p:sp>
      <p:sp>
        <p:nvSpPr>
          <p:cNvPr id="4" name="Rectangle 3">
            <a:extLst>
              <a:ext uri="{FF2B5EF4-FFF2-40B4-BE49-F238E27FC236}">
                <a16:creationId xmlns:a16="http://schemas.microsoft.com/office/drawing/2014/main" id="{A9D6334A-7276-EDC3-36F5-6EEC4935C74B}"/>
              </a:ext>
            </a:extLst>
          </p:cNvPr>
          <p:cNvSpPr/>
          <p:nvPr/>
        </p:nvSpPr>
        <p:spPr>
          <a:xfrm>
            <a:off x="1088571" y="1856014"/>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Patient experiences joint pain</a:t>
            </a:r>
            <a:endParaRPr lang="en-SG" dirty="0"/>
          </a:p>
        </p:txBody>
      </p:sp>
      <p:sp>
        <p:nvSpPr>
          <p:cNvPr id="5" name="Rectangle 4">
            <a:extLst>
              <a:ext uri="{FF2B5EF4-FFF2-40B4-BE49-F238E27FC236}">
                <a16:creationId xmlns:a16="http://schemas.microsoft.com/office/drawing/2014/main" id="{AA8B4B81-D8B5-32E3-F30E-71DD42827EF0}"/>
              </a:ext>
            </a:extLst>
          </p:cNvPr>
          <p:cNvSpPr/>
          <p:nvPr/>
        </p:nvSpPr>
        <p:spPr>
          <a:xfrm>
            <a:off x="3592283" y="1856014"/>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Patient sees doctor and gets referral for physio appointment next week</a:t>
            </a:r>
            <a:endParaRPr lang="en-SG" dirty="0"/>
          </a:p>
        </p:txBody>
      </p:sp>
      <p:sp>
        <p:nvSpPr>
          <p:cNvPr id="6" name="Rectangle 5">
            <a:extLst>
              <a:ext uri="{FF2B5EF4-FFF2-40B4-BE49-F238E27FC236}">
                <a16:creationId xmlns:a16="http://schemas.microsoft.com/office/drawing/2014/main" id="{AB78A36F-B3EA-0F02-40CF-7DE680699C14}"/>
              </a:ext>
            </a:extLst>
          </p:cNvPr>
          <p:cNvSpPr/>
          <p:nvPr/>
        </p:nvSpPr>
        <p:spPr>
          <a:xfrm>
            <a:off x="8599707" y="1856014"/>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Patient is not getting better and Physio is unable to treat patient and refers to someone else</a:t>
            </a:r>
            <a:endParaRPr lang="en-SG" dirty="0"/>
          </a:p>
        </p:txBody>
      </p:sp>
      <p:sp>
        <p:nvSpPr>
          <p:cNvPr id="7" name="Rectangle 6">
            <a:extLst>
              <a:ext uri="{FF2B5EF4-FFF2-40B4-BE49-F238E27FC236}">
                <a16:creationId xmlns:a16="http://schemas.microsoft.com/office/drawing/2014/main" id="{914900FB-180A-8222-9207-2200B0090B5E}"/>
              </a:ext>
            </a:extLst>
          </p:cNvPr>
          <p:cNvSpPr/>
          <p:nvPr/>
        </p:nvSpPr>
        <p:spPr>
          <a:xfrm>
            <a:off x="1088571" y="4177370"/>
            <a:ext cx="2383971" cy="123008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New Physio receives new patient with symptoms and past treatments</a:t>
            </a:r>
            <a:endParaRPr lang="en-SG" dirty="0"/>
          </a:p>
        </p:txBody>
      </p:sp>
      <p:sp>
        <p:nvSpPr>
          <p:cNvPr id="10" name="Rectangle 9">
            <a:extLst>
              <a:ext uri="{FF2B5EF4-FFF2-40B4-BE49-F238E27FC236}">
                <a16:creationId xmlns:a16="http://schemas.microsoft.com/office/drawing/2014/main" id="{CB51BFF6-C7BC-1879-B1C4-21D6FD0DF283}"/>
              </a:ext>
            </a:extLst>
          </p:cNvPr>
          <p:cNvSpPr/>
          <p:nvPr/>
        </p:nvSpPr>
        <p:spPr>
          <a:xfrm>
            <a:off x="6095995" y="1856014"/>
            <a:ext cx="2383971" cy="12300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Physio tries a few treatments for 4-5 weeks</a:t>
            </a:r>
            <a:endParaRPr lang="en-SG" dirty="0"/>
          </a:p>
        </p:txBody>
      </p:sp>
      <p:sp>
        <p:nvSpPr>
          <p:cNvPr id="12" name="Rectangle 11">
            <a:extLst>
              <a:ext uri="{FF2B5EF4-FFF2-40B4-BE49-F238E27FC236}">
                <a16:creationId xmlns:a16="http://schemas.microsoft.com/office/drawing/2014/main" id="{9969DEB7-E177-114A-DE67-3E2B2BD8DF1D}"/>
              </a:ext>
            </a:extLst>
          </p:cNvPr>
          <p:cNvSpPr/>
          <p:nvPr/>
        </p:nvSpPr>
        <p:spPr>
          <a:xfrm>
            <a:off x="3592282" y="4177370"/>
            <a:ext cx="2383971" cy="123008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Physio provides new treatment that works well and patient feels better</a:t>
            </a:r>
            <a:endParaRPr lang="en-SG" dirty="0"/>
          </a:p>
        </p:txBody>
      </p:sp>
      <p:sp>
        <p:nvSpPr>
          <p:cNvPr id="14" name="Arrow: Left-Right 13">
            <a:extLst>
              <a:ext uri="{FF2B5EF4-FFF2-40B4-BE49-F238E27FC236}">
                <a16:creationId xmlns:a16="http://schemas.microsoft.com/office/drawing/2014/main" id="{C66AD1E8-1F5C-C720-D8CF-14AF601F4387}"/>
              </a:ext>
            </a:extLst>
          </p:cNvPr>
          <p:cNvSpPr/>
          <p:nvPr/>
        </p:nvSpPr>
        <p:spPr>
          <a:xfrm>
            <a:off x="1088571" y="3378064"/>
            <a:ext cx="9895107" cy="474685"/>
          </a:xfrm>
          <a:prstGeom prst="lef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Estimated time taken: 5-18 weeks</a:t>
            </a:r>
            <a:endParaRPr lang="en-SG" dirty="0"/>
          </a:p>
        </p:txBody>
      </p:sp>
      <p:sp>
        <p:nvSpPr>
          <p:cNvPr id="15" name="TextBox 14">
            <a:extLst>
              <a:ext uri="{FF2B5EF4-FFF2-40B4-BE49-F238E27FC236}">
                <a16:creationId xmlns:a16="http://schemas.microsoft.com/office/drawing/2014/main" id="{7DD0E604-18C4-1E3A-FD21-12E94394A59B}"/>
              </a:ext>
            </a:extLst>
          </p:cNvPr>
          <p:cNvSpPr txBox="1"/>
          <p:nvPr/>
        </p:nvSpPr>
        <p:spPr>
          <a:xfrm>
            <a:off x="5236028" y="3086100"/>
            <a:ext cx="1959429" cy="369332"/>
          </a:xfrm>
          <a:prstGeom prst="rect">
            <a:avLst/>
          </a:prstGeom>
          <a:noFill/>
        </p:spPr>
        <p:txBody>
          <a:bodyPr wrap="square" rtlCol="0">
            <a:spAutoFit/>
          </a:bodyPr>
          <a:lstStyle/>
          <a:p>
            <a:r>
              <a:rPr lang="en-US" dirty="0"/>
              <a:t>4-6 week process</a:t>
            </a:r>
            <a:endParaRPr lang="en-SG" dirty="0"/>
          </a:p>
        </p:txBody>
      </p:sp>
      <p:sp>
        <p:nvSpPr>
          <p:cNvPr id="16" name="TextBox 15">
            <a:extLst>
              <a:ext uri="{FF2B5EF4-FFF2-40B4-BE49-F238E27FC236}">
                <a16:creationId xmlns:a16="http://schemas.microsoft.com/office/drawing/2014/main" id="{188D3A81-64A3-6982-18BE-84A96DE1E53D}"/>
              </a:ext>
            </a:extLst>
          </p:cNvPr>
          <p:cNvSpPr txBox="1"/>
          <p:nvPr/>
        </p:nvSpPr>
        <p:spPr>
          <a:xfrm>
            <a:off x="5236028" y="3782235"/>
            <a:ext cx="2144486" cy="369332"/>
          </a:xfrm>
          <a:prstGeom prst="rect">
            <a:avLst/>
          </a:prstGeom>
          <a:noFill/>
        </p:spPr>
        <p:txBody>
          <a:bodyPr wrap="square" rtlCol="0">
            <a:spAutoFit/>
          </a:bodyPr>
          <a:lstStyle/>
          <a:p>
            <a:r>
              <a:rPr lang="en-US" dirty="0"/>
              <a:t>1-12 week process</a:t>
            </a:r>
            <a:endParaRPr lang="en-SG" dirty="0"/>
          </a:p>
        </p:txBody>
      </p:sp>
      <p:sp>
        <p:nvSpPr>
          <p:cNvPr id="11" name="Rectangle 10">
            <a:extLst>
              <a:ext uri="{FF2B5EF4-FFF2-40B4-BE49-F238E27FC236}">
                <a16:creationId xmlns:a16="http://schemas.microsoft.com/office/drawing/2014/main" id="{2B960809-926B-F1A1-8600-B72CB2570F96}"/>
              </a:ext>
            </a:extLst>
          </p:cNvPr>
          <p:cNvSpPr/>
          <p:nvPr/>
        </p:nvSpPr>
        <p:spPr>
          <a:xfrm>
            <a:off x="6095993" y="4177370"/>
            <a:ext cx="4887685" cy="12300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Customer treatment time reduced by 3 - 8 weeks, ~40%</a:t>
            </a:r>
            <a:endParaRPr lang="en-SG" b="1" dirty="0"/>
          </a:p>
        </p:txBody>
      </p:sp>
    </p:spTree>
    <p:extLst>
      <p:ext uri="{BB962C8B-B14F-4D97-AF65-F5344CB8AC3E}">
        <p14:creationId xmlns:p14="http://schemas.microsoft.com/office/powerpoint/2010/main" val="3597282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FFE4A-E18F-D857-2C7B-2A5D889647F9}"/>
              </a:ext>
            </a:extLst>
          </p:cNvPr>
          <p:cNvSpPr>
            <a:spLocks noGrp="1"/>
          </p:cNvSpPr>
          <p:nvPr>
            <p:ph type="title"/>
          </p:nvPr>
        </p:nvSpPr>
        <p:spPr/>
        <p:txBody>
          <a:bodyPr/>
          <a:lstStyle/>
          <a:p>
            <a:r>
              <a:rPr lang="en-US" dirty="0"/>
              <a:t>Value Proposition</a:t>
            </a:r>
            <a:endParaRPr lang="en-SG" dirty="0"/>
          </a:p>
        </p:txBody>
      </p:sp>
      <p:sp>
        <p:nvSpPr>
          <p:cNvPr id="3" name="Content Placeholder 2">
            <a:extLst>
              <a:ext uri="{FF2B5EF4-FFF2-40B4-BE49-F238E27FC236}">
                <a16:creationId xmlns:a16="http://schemas.microsoft.com/office/drawing/2014/main" id="{FB54E973-0B96-EECE-E12D-A34568462D7B}"/>
              </a:ext>
            </a:extLst>
          </p:cNvPr>
          <p:cNvSpPr>
            <a:spLocks noGrp="1"/>
          </p:cNvSpPr>
          <p:nvPr>
            <p:ph sz="half" idx="1"/>
          </p:nvPr>
        </p:nvSpPr>
        <p:spPr>
          <a:xfrm>
            <a:off x="838200" y="1825625"/>
            <a:ext cx="3450771" cy="4351338"/>
          </a:xfrm>
        </p:spPr>
        <p:txBody>
          <a:bodyPr/>
          <a:lstStyle/>
          <a:p>
            <a:pPr marL="0" indent="0">
              <a:buNone/>
            </a:pPr>
            <a:r>
              <a:rPr lang="en-US" dirty="0"/>
              <a:t>Access becomes conditional, not charitable</a:t>
            </a:r>
          </a:p>
          <a:p>
            <a:pPr marL="0" indent="0">
              <a:buNone/>
            </a:pPr>
            <a:endParaRPr lang="en-US" dirty="0"/>
          </a:p>
          <a:p>
            <a:pPr marL="0" indent="0">
              <a:buNone/>
            </a:pPr>
            <a:r>
              <a:rPr lang="en-SG" sz="1800" dirty="0"/>
              <a:t>Encourages rational decision-making not virtue driven decision making.</a:t>
            </a:r>
          </a:p>
          <a:p>
            <a:pPr marL="0" indent="0">
              <a:buNone/>
            </a:pPr>
            <a:endParaRPr lang="en-SG" sz="1800" dirty="0"/>
          </a:p>
        </p:txBody>
      </p:sp>
      <p:sp>
        <p:nvSpPr>
          <p:cNvPr id="4" name="Content Placeholder 3">
            <a:extLst>
              <a:ext uri="{FF2B5EF4-FFF2-40B4-BE49-F238E27FC236}">
                <a16:creationId xmlns:a16="http://schemas.microsoft.com/office/drawing/2014/main" id="{3F411C97-03B5-A789-FB84-AC035C837682}"/>
              </a:ext>
            </a:extLst>
          </p:cNvPr>
          <p:cNvSpPr>
            <a:spLocks noGrp="1"/>
          </p:cNvSpPr>
          <p:nvPr>
            <p:ph sz="half" idx="2"/>
          </p:nvPr>
        </p:nvSpPr>
        <p:spPr>
          <a:xfrm>
            <a:off x="7903029" y="1825625"/>
            <a:ext cx="3450771" cy="4351338"/>
          </a:xfrm>
        </p:spPr>
        <p:txBody>
          <a:bodyPr/>
          <a:lstStyle/>
          <a:p>
            <a:pPr marL="0" indent="0">
              <a:buNone/>
            </a:pPr>
            <a:r>
              <a:rPr lang="en-US" dirty="0"/>
              <a:t>Operational advantages compound over time</a:t>
            </a:r>
          </a:p>
          <a:p>
            <a:pPr marL="0" indent="0">
              <a:buNone/>
            </a:pPr>
            <a:endParaRPr lang="en-US" dirty="0"/>
          </a:p>
          <a:p>
            <a:pPr marL="0" indent="0">
              <a:buNone/>
            </a:pPr>
            <a:r>
              <a:rPr lang="en-US" sz="1800" dirty="0"/>
              <a:t>Incentives encourage willing opt-ins to maintain competitive edge and improve quality of service.</a:t>
            </a:r>
          </a:p>
          <a:p>
            <a:pPr marL="0" indent="0">
              <a:buNone/>
            </a:pPr>
            <a:r>
              <a:rPr lang="en-US" sz="1800" dirty="0"/>
              <a:t>Establishing partnerships between individual clinics and mutual understanding regarding the importance of proper physiotherapy treatment</a:t>
            </a:r>
          </a:p>
        </p:txBody>
      </p:sp>
      <p:sp>
        <p:nvSpPr>
          <p:cNvPr id="5" name="Content Placeholder 3">
            <a:extLst>
              <a:ext uri="{FF2B5EF4-FFF2-40B4-BE49-F238E27FC236}">
                <a16:creationId xmlns:a16="http://schemas.microsoft.com/office/drawing/2014/main" id="{7812CC5A-E9D5-B958-91EE-98CACC3C68AE}"/>
              </a:ext>
            </a:extLst>
          </p:cNvPr>
          <p:cNvSpPr txBox="1">
            <a:spLocks/>
          </p:cNvSpPr>
          <p:nvPr/>
        </p:nvSpPr>
        <p:spPr>
          <a:xfrm>
            <a:off x="4370614" y="1825625"/>
            <a:ext cx="34507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dirty="0"/>
              <a:t>Context without judgment</a:t>
            </a:r>
          </a:p>
          <a:p>
            <a:pPr marL="0" indent="0">
              <a:buNone/>
            </a:pPr>
            <a:endParaRPr lang="en-SG" dirty="0"/>
          </a:p>
          <a:p>
            <a:pPr marL="0" indent="0">
              <a:buNone/>
            </a:pPr>
            <a:endParaRPr lang="en-SG" dirty="0"/>
          </a:p>
          <a:p>
            <a:pPr marL="0" indent="0">
              <a:buNone/>
            </a:pPr>
            <a:r>
              <a:rPr lang="en-SG" sz="1800" dirty="0"/>
              <a:t>Eliminates peer judgement </a:t>
            </a:r>
          </a:p>
          <a:p>
            <a:pPr marL="0" indent="0">
              <a:buNone/>
            </a:pPr>
            <a:r>
              <a:rPr lang="en-SG" sz="1800" dirty="0"/>
              <a:t>Reduces communication errors through standardised language</a:t>
            </a:r>
          </a:p>
          <a:p>
            <a:pPr marL="0" indent="0">
              <a:buNone/>
            </a:pPr>
            <a:r>
              <a:rPr lang="en-SG" sz="1800" dirty="0"/>
              <a:t>Creates a safe space for practitioners to share information and treatments</a:t>
            </a:r>
          </a:p>
          <a:p>
            <a:pPr marL="0" indent="0">
              <a:buNone/>
            </a:pPr>
            <a:endParaRPr lang="en-SG" sz="1800" dirty="0"/>
          </a:p>
        </p:txBody>
      </p:sp>
    </p:spTree>
    <p:extLst>
      <p:ext uri="{BB962C8B-B14F-4D97-AF65-F5344CB8AC3E}">
        <p14:creationId xmlns:p14="http://schemas.microsoft.com/office/powerpoint/2010/main" val="4225761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EDDE2-1E6C-B434-50CB-B76219192DE1}"/>
              </a:ext>
            </a:extLst>
          </p:cNvPr>
          <p:cNvSpPr>
            <a:spLocks noGrp="1"/>
          </p:cNvSpPr>
          <p:nvPr>
            <p:ph type="title"/>
          </p:nvPr>
        </p:nvSpPr>
        <p:spPr/>
        <p:txBody>
          <a:bodyPr/>
          <a:lstStyle/>
          <a:p>
            <a:r>
              <a:rPr lang="en-US" dirty="0"/>
              <a:t>Key Features</a:t>
            </a:r>
            <a:endParaRPr lang="en-SG" dirty="0"/>
          </a:p>
        </p:txBody>
      </p:sp>
      <p:sp>
        <p:nvSpPr>
          <p:cNvPr id="3" name="Content Placeholder 2">
            <a:extLst>
              <a:ext uri="{FF2B5EF4-FFF2-40B4-BE49-F238E27FC236}">
                <a16:creationId xmlns:a16="http://schemas.microsoft.com/office/drawing/2014/main" id="{C9849557-A869-AC6F-EC53-11174E00D4FD}"/>
              </a:ext>
            </a:extLst>
          </p:cNvPr>
          <p:cNvSpPr>
            <a:spLocks noGrp="1"/>
          </p:cNvSpPr>
          <p:nvPr>
            <p:ph idx="1"/>
          </p:nvPr>
        </p:nvSpPr>
        <p:spPr>
          <a:xfrm>
            <a:off x="838200" y="1825625"/>
            <a:ext cx="5072743" cy="4351338"/>
          </a:xfrm>
        </p:spPr>
        <p:txBody>
          <a:bodyPr>
            <a:normAutofit fontScale="77500" lnSpcReduction="20000"/>
          </a:bodyPr>
          <a:lstStyle/>
          <a:p>
            <a:r>
              <a:rPr lang="en-SG" b="1" dirty="0"/>
              <a:t>Core MVP features</a:t>
            </a:r>
          </a:p>
          <a:p>
            <a:r>
              <a:rPr lang="en-SG" dirty="0"/>
              <a:t>Clinic opt-in / opt-out toggle</a:t>
            </a:r>
          </a:p>
          <a:p>
            <a:r>
              <a:rPr lang="en-SG" dirty="0"/>
              <a:t>Conditional sharing logic (done via phone)</a:t>
            </a:r>
          </a:p>
          <a:p>
            <a:r>
              <a:rPr lang="en-SG" dirty="0"/>
              <a:t>Structured Care Continuity Snapshot generation</a:t>
            </a:r>
          </a:p>
          <a:p>
            <a:r>
              <a:rPr lang="en-SG" dirty="0"/>
              <a:t>Snapshot visibility gating</a:t>
            </a:r>
          </a:p>
          <a:p>
            <a:r>
              <a:rPr lang="en-SG" dirty="0"/>
              <a:t>Contribution score calculation</a:t>
            </a:r>
          </a:p>
          <a:p>
            <a:r>
              <a:rPr lang="en-SG" dirty="0"/>
              <a:t>Access messaging (“Available because you participate”)</a:t>
            </a:r>
          </a:p>
          <a:p>
            <a:r>
              <a:rPr lang="en-SG" dirty="0"/>
              <a:t>Patient switch simulation</a:t>
            </a:r>
          </a:p>
          <a:p>
            <a:r>
              <a:rPr lang="en-SG" dirty="0"/>
              <a:t>Admin view to demonstrate state changes</a:t>
            </a:r>
          </a:p>
          <a:p>
            <a:endParaRPr lang="en-SG" dirty="0"/>
          </a:p>
        </p:txBody>
      </p:sp>
      <p:sp>
        <p:nvSpPr>
          <p:cNvPr id="4" name="Content Placeholder 2">
            <a:extLst>
              <a:ext uri="{FF2B5EF4-FFF2-40B4-BE49-F238E27FC236}">
                <a16:creationId xmlns:a16="http://schemas.microsoft.com/office/drawing/2014/main" id="{084ECB2A-643A-AF92-8EB3-FA12877724C3}"/>
              </a:ext>
            </a:extLst>
          </p:cNvPr>
          <p:cNvSpPr txBox="1">
            <a:spLocks/>
          </p:cNvSpPr>
          <p:nvPr/>
        </p:nvSpPr>
        <p:spPr>
          <a:xfrm>
            <a:off x="6096000" y="1825625"/>
            <a:ext cx="5072743"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SG" b="1"/>
              <a:t>Scalable feature extensions (post-MVP)</a:t>
            </a:r>
          </a:p>
          <a:p>
            <a:r>
              <a:rPr lang="en-SG"/>
              <a:t>Progressive snapshot enrichment (more fields unlocked over time)</a:t>
            </a:r>
          </a:p>
          <a:p>
            <a:r>
              <a:rPr lang="en-SG"/>
              <a:t>Specialty-specific taxonomies</a:t>
            </a:r>
          </a:p>
          <a:p>
            <a:r>
              <a:rPr lang="en-SG"/>
              <a:t>Aggregate benchmarking insights (non-identifying)</a:t>
            </a:r>
          </a:p>
          <a:p>
            <a:r>
              <a:rPr lang="en-SG"/>
              <a:t>Referral weighting based on contribution</a:t>
            </a:r>
          </a:p>
          <a:p>
            <a:r>
              <a:rPr lang="en-SG"/>
              <a:t>Time-decay contribution scoring</a:t>
            </a:r>
          </a:p>
          <a:p>
            <a:r>
              <a:rPr lang="en-SG"/>
              <a:t>Patient-mediated consent overlays</a:t>
            </a:r>
          </a:p>
          <a:p>
            <a:r>
              <a:rPr lang="en-SG"/>
              <a:t>Cross-discipline expansion (OT, chiro, exercise phys)</a:t>
            </a:r>
          </a:p>
        </p:txBody>
      </p:sp>
    </p:spTree>
    <p:extLst>
      <p:ext uri="{BB962C8B-B14F-4D97-AF65-F5344CB8AC3E}">
        <p14:creationId xmlns:p14="http://schemas.microsoft.com/office/powerpoint/2010/main" val="1972818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10198-9C09-1293-C443-3AE7A02E2E0F}"/>
              </a:ext>
            </a:extLst>
          </p:cNvPr>
          <p:cNvSpPr>
            <a:spLocks noGrp="1"/>
          </p:cNvSpPr>
          <p:nvPr>
            <p:ph type="title"/>
          </p:nvPr>
        </p:nvSpPr>
        <p:spPr/>
        <p:txBody>
          <a:bodyPr/>
          <a:lstStyle/>
          <a:p>
            <a:r>
              <a:rPr lang="en-US" dirty="0"/>
              <a:t>How Do We Ensure Opt-In?</a:t>
            </a:r>
            <a:endParaRPr lang="en-SG" dirty="0"/>
          </a:p>
        </p:txBody>
      </p:sp>
      <p:sp>
        <p:nvSpPr>
          <p:cNvPr id="3" name="Content Placeholder 2">
            <a:extLst>
              <a:ext uri="{FF2B5EF4-FFF2-40B4-BE49-F238E27FC236}">
                <a16:creationId xmlns:a16="http://schemas.microsoft.com/office/drawing/2014/main" id="{60851C95-4275-7E2E-8394-CF4FDC060479}"/>
              </a:ext>
            </a:extLst>
          </p:cNvPr>
          <p:cNvSpPr>
            <a:spLocks noGrp="1"/>
          </p:cNvSpPr>
          <p:nvPr>
            <p:ph idx="1"/>
          </p:nvPr>
        </p:nvSpPr>
        <p:spPr>
          <a:xfrm>
            <a:off x="4664529" y="3243942"/>
            <a:ext cx="3624943" cy="2421392"/>
          </a:xfrm>
        </p:spPr>
        <p:txBody>
          <a:bodyPr>
            <a:normAutofit fontScale="85000" lnSpcReduction="20000"/>
          </a:bodyPr>
          <a:lstStyle/>
          <a:p>
            <a:pPr marL="0" indent="0">
              <a:buNone/>
            </a:pPr>
            <a:r>
              <a:rPr lang="en-US" dirty="0"/>
              <a:t>Instead of direct notes from each physio, Kinetic </a:t>
            </a:r>
            <a:r>
              <a:rPr lang="en-US" dirty="0" err="1"/>
              <a:t>summarises</a:t>
            </a:r>
            <a:r>
              <a:rPr lang="en-US" dirty="0"/>
              <a:t> the information provided and provides a general outline of what symptoms and treatments the patient has undergone previously</a:t>
            </a:r>
            <a:endParaRPr lang="en-SG" dirty="0"/>
          </a:p>
        </p:txBody>
      </p:sp>
      <p:sp>
        <p:nvSpPr>
          <p:cNvPr id="4" name="Oval 3">
            <a:extLst>
              <a:ext uri="{FF2B5EF4-FFF2-40B4-BE49-F238E27FC236}">
                <a16:creationId xmlns:a16="http://schemas.microsoft.com/office/drawing/2014/main" id="{3D85DB6E-988B-FF95-F86D-1286CDFBF5B9}"/>
              </a:ext>
            </a:extLst>
          </p:cNvPr>
          <p:cNvSpPr/>
          <p:nvPr/>
        </p:nvSpPr>
        <p:spPr>
          <a:xfrm>
            <a:off x="1077686" y="1632857"/>
            <a:ext cx="3352800" cy="1415143"/>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Defensive behavior caused by competitive fear</a:t>
            </a:r>
            <a:endParaRPr lang="en-SG" dirty="0"/>
          </a:p>
        </p:txBody>
      </p:sp>
      <p:sp>
        <p:nvSpPr>
          <p:cNvPr id="6" name="Oval 5">
            <a:extLst>
              <a:ext uri="{FF2B5EF4-FFF2-40B4-BE49-F238E27FC236}">
                <a16:creationId xmlns:a16="http://schemas.microsoft.com/office/drawing/2014/main" id="{BBFCFA8F-A440-8757-9AF8-8798738E0578}"/>
              </a:ext>
            </a:extLst>
          </p:cNvPr>
          <p:cNvSpPr/>
          <p:nvPr/>
        </p:nvSpPr>
        <p:spPr>
          <a:xfrm>
            <a:off x="4547507" y="1632855"/>
            <a:ext cx="3352800" cy="1415143"/>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Judgement and Reputational Risk</a:t>
            </a:r>
            <a:endParaRPr lang="en-SG" dirty="0"/>
          </a:p>
        </p:txBody>
      </p:sp>
      <p:sp>
        <p:nvSpPr>
          <p:cNvPr id="7" name="Content Placeholder 2">
            <a:extLst>
              <a:ext uri="{FF2B5EF4-FFF2-40B4-BE49-F238E27FC236}">
                <a16:creationId xmlns:a16="http://schemas.microsoft.com/office/drawing/2014/main" id="{7ABB5C2B-32B0-6BBC-8D5E-9C8B1EC4BB5E}"/>
              </a:ext>
            </a:extLst>
          </p:cNvPr>
          <p:cNvSpPr txBox="1">
            <a:spLocks/>
          </p:cNvSpPr>
          <p:nvPr/>
        </p:nvSpPr>
        <p:spPr>
          <a:xfrm>
            <a:off x="941614" y="3320142"/>
            <a:ext cx="3624943" cy="242139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Provide functionality too valuable to ignore.</a:t>
            </a:r>
          </a:p>
          <a:p>
            <a:pPr marL="0" indent="0">
              <a:buFont typeface="Arial" panose="020B0604020202020204" pitchFamily="34" charset="0"/>
              <a:buNone/>
            </a:pPr>
            <a:r>
              <a:rPr lang="en-SG" dirty="0"/>
              <a:t>Access to patient treatment and symptom information</a:t>
            </a:r>
          </a:p>
          <a:p>
            <a:pPr marL="0" indent="0">
              <a:buFont typeface="Arial" panose="020B0604020202020204" pitchFamily="34" charset="0"/>
              <a:buNone/>
            </a:pPr>
            <a:r>
              <a:rPr lang="en-US" dirty="0"/>
              <a:t>Bonus features such as messaging and scheduling</a:t>
            </a:r>
          </a:p>
        </p:txBody>
      </p:sp>
      <p:sp>
        <p:nvSpPr>
          <p:cNvPr id="8" name="Oval 7">
            <a:extLst>
              <a:ext uri="{FF2B5EF4-FFF2-40B4-BE49-F238E27FC236}">
                <a16:creationId xmlns:a16="http://schemas.microsoft.com/office/drawing/2014/main" id="{04A18B42-6DBD-A8C5-22AC-6B40DCE3D7EF}"/>
              </a:ext>
            </a:extLst>
          </p:cNvPr>
          <p:cNvSpPr/>
          <p:nvPr/>
        </p:nvSpPr>
        <p:spPr>
          <a:xfrm>
            <a:off x="8017329" y="1632855"/>
            <a:ext cx="3352800" cy="1415143"/>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Legal repercussions for poor treatment</a:t>
            </a:r>
            <a:endParaRPr lang="en-SG" dirty="0"/>
          </a:p>
        </p:txBody>
      </p:sp>
      <p:sp>
        <p:nvSpPr>
          <p:cNvPr id="5" name="Content Placeholder 2">
            <a:extLst>
              <a:ext uri="{FF2B5EF4-FFF2-40B4-BE49-F238E27FC236}">
                <a16:creationId xmlns:a16="http://schemas.microsoft.com/office/drawing/2014/main" id="{7F0BCBF4-4A3E-4B52-4273-83DE19FBA800}"/>
              </a:ext>
            </a:extLst>
          </p:cNvPr>
          <p:cNvSpPr txBox="1">
            <a:spLocks/>
          </p:cNvSpPr>
          <p:nvPr/>
        </p:nvSpPr>
        <p:spPr>
          <a:xfrm>
            <a:off x="8104415" y="3243942"/>
            <a:ext cx="3728357" cy="2617336"/>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Working on new patients, physios come under scrutiny when another physio evaluates their work, often the customer can feel almost threatened and frustrated that the previous physio gave them faulty treatment and may seek legal repercussions for poor treatment even though the previous physio had acted in good faith.</a:t>
            </a:r>
            <a:endParaRPr lang="en-SG" dirty="0"/>
          </a:p>
        </p:txBody>
      </p:sp>
    </p:spTree>
    <p:extLst>
      <p:ext uri="{BB962C8B-B14F-4D97-AF65-F5344CB8AC3E}">
        <p14:creationId xmlns:p14="http://schemas.microsoft.com/office/powerpoint/2010/main" val="227837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639</TotalTime>
  <Words>723</Words>
  <Application>Microsoft Office PowerPoint</Application>
  <PresentationFormat>Widescreen</PresentationFormat>
  <Paragraphs>100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Project 1: Incentive Design Under Adversarial Conditions</vt:lpstr>
      <vt:lpstr>Problem Statement</vt:lpstr>
      <vt:lpstr>Why Current Approaches Fail</vt:lpstr>
      <vt:lpstr>Design Principles</vt:lpstr>
      <vt:lpstr>Customer Journey Map</vt:lpstr>
      <vt:lpstr>Customer Journey Map</vt:lpstr>
      <vt:lpstr>Value Proposition</vt:lpstr>
      <vt:lpstr>Key Features</vt:lpstr>
      <vt:lpstr>How Do We Ensure Opt-In?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Elijah Tan</dc:creator>
  <cp:lastModifiedBy>Elijah Tan</cp:lastModifiedBy>
  <cp:revision>5</cp:revision>
  <dcterms:created xsi:type="dcterms:W3CDTF">2026-02-12T00:25:06Z</dcterms:created>
  <dcterms:modified xsi:type="dcterms:W3CDTF">2026-02-20T04:00:35Z</dcterms:modified>
</cp:coreProperties>
</file>